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image6.jpg" ContentType="image/jpg"/>
  <Override PartName="/ppt/notesSlides/notesSlide12.xml" ContentType="application/vnd.openxmlformats-officedocument.presentationml.notesSlide+xml"/>
  <Override PartName="/ppt/media/image7.jpg" ContentType="image/jpg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media/image8.jpg" ContentType="image/jpg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media/image9.jpg" ContentType="image/jpg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8" r:id="rId4"/>
    <p:sldId id="258" r:id="rId5"/>
    <p:sldId id="287" r:id="rId6"/>
    <p:sldId id="289" r:id="rId7"/>
    <p:sldId id="270" r:id="rId8"/>
    <p:sldId id="271" r:id="rId9"/>
    <p:sldId id="272" r:id="rId10"/>
    <p:sldId id="294" r:id="rId11"/>
    <p:sldId id="290" r:id="rId12"/>
    <p:sldId id="273" r:id="rId13"/>
    <p:sldId id="274" r:id="rId14"/>
    <p:sldId id="291" r:id="rId15"/>
    <p:sldId id="276" r:id="rId16"/>
    <p:sldId id="277" r:id="rId17"/>
    <p:sldId id="281" r:id="rId18"/>
    <p:sldId id="280" r:id="rId19"/>
    <p:sldId id="292" r:id="rId20"/>
    <p:sldId id="282" r:id="rId21"/>
    <p:sldId id="283" r:id="rId22"/>
    <p:sldId id="284" r:id="rId23"/>
    <p:sldId id="293" r:id="rId24"/>
    <p:sldId id="267" r:id="rId25"/>
    <p:sldId id="285" r:id="rId26"/>
    <p:sldId id="286" r:id="rId27"/>
    <p:sldId id="269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94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Special Motivation</a:t>
            </a:r>
          </a:p>
          <a:p>
            <a:endParaRPr lang="en-US" dirty="0"/>
          </a:p>
          <a:p>
            <a:r>
              <a:rPr lang="en-US" dirty="0"/>
              <a:t>Witnessed</a:t>
            </a:r>
          </a:p>
          <a:p>
            <a:endParaRPr lang="en-US" dirty="0"/>
          </a:p>
          <a:p>
            <a:r>
              <a:rPr lang="en-US" dirty="0"/>
              <a:t>Fire breakouts</a:t>
            </a:r>
          </a:p>
          <a:p>
            <a:endParaRPr lang="en-US" dirty="0"/>
          </a:p>
          <a:p>
            <a:r>
              <a:rPr lang="en-US" dirty="0"/>
              <a:t>Earth Science</a:t>
            </a:r>
          </a:p>
          <a:p>
            <a:endParaRPr lang="en-US" dirty="0"/>
          </a:p>
          <a:p>
            <a:r>
              <a:rPr lang="en-US" dirty="0"/>
              <a:t>West wind cross </a:t>
            </a:r>
            <a:r>
              <a:rPr lang="ko-KR" altLang="en-US" dirty="0"/>
              <a:t>태백 마운틴</a:t>
            </a:r>
            <a:r>
              <a:rPr lang="en-US" altLang="ko-KR" dirty="0"/>
              <a:t>, it</a:t>
            </a:r>
            <a:r>
              <a:rPr lang="ko-KR" altLang="en-US" dirty="0"/>
              <a:t> </a:t>
            </a:r>
            <a:r>
              <a:rPr lang="en-US" altLang="ko-KR" dirty="0"/>
              <a:t>undergoes</a:t>
            </a:r>
            <a:r>
              <a:rPr lang="ko-KR" altLang="en-US" dirty="0"/>
              <a:t> </a:t>
            </a:r>
            <a:r>
              <a:rPr lang="en-US" altLang="ko-KR" dirty="0"/>
              <a:t>Foehn</a:t>
            </a:r>
            <a:r>
              <a:rPr lang="ko-KR" altLang="en-US" dirty="0"/>
              <a:t> </a:t>
            </a:r>
            <a:r>
              <a:rPr lang="en-US" altLang="ko-KR" dirty="0"/>
              <a:t>Effect. The wind becomes extremely hot, dry and fast.</a:t>
            </a:r>
          </a:p>
          <a:p>
            <a:endParaRPr lang="en-US" dirty="0"/>
          </a:p>
          <a:p>
            <a:r>
              <a:rPr lang="en-US" dirty="0"/>
              <a:t>We hypothesized that this topographical characteristics does more just make wind stronger, it fundamentally changes the ‘nature’ of the fire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combined 10 years of</a:t>
            </a:r>
          </a:p>
          <a:p>
            <a:endParaRPr lang="en-US" altLang="ko-KR" dirty="0"/>
          </a:p>
          <a:p>
            <a:r>
              <a:rPr lang="ko-KR" altLang="en-US" dirty="0" err="1"/>
              <a:t>소방청</a:t>
            </a:r>
            <a:r>
              <a:rPr lang="ko-KR" altLang="en-US" dirty="0"/>
              <a:t> 화재 </a:t>
            </a:r>
            <a:r>
              <a:rPr lang="en-US" altLang="ko-KR" dirty="0"/>
              <a:t>data</a:t>
            </a:r>
          </a:p>
          <a:p>
            <a:endParaRPr lang="en-US" altLang="ko-KR" dirty="0"/>
          </a:p>
          <a:p>
            <a:r>
              <a:rPr lang="ko-KR" altLang="en-US" dirty="0"/>
              <a:t>기상청 일기상 </a:t>
            </a:r>
            <a:r>
              <a:rPr lang="en-US" altLang="ko-KR" dirty="0"/>
              <a:t>data</a:t>
            </a:r>
          </a:p>
          <a:p>
            <a:endParaRPr lang="en-US" dirty="0"/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2015 to 2024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interpolated weather data,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combined spatial units such as cites,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temporal units such as days and months to create a 2D tabular dataset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Derived variables</a:t>
            </a:r>
          </a:p>
          <a:p>
            <a:endParaRPr lang="en-US" dirty="0"/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Dryness index, diurnal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（다이얼널）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temperature range, season, and region.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Especially we grouped~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Final constructed panel data</a:t>
            </a:r>
          </a:p>
          <a:p>
            <a:endParaRPr lang="en-US" altLang="ko-KR" dirty="0"/>
          </a:p>
          <a:p>
            <a:r>
              <a:rPr lang="en-US" altLang="ko-KR" dirty="0"/>
              <a:t>65 thousand observations</a:t>
            </a:r>
          </a:p>
        </p:txBody>
      </p:sp>
    </p:spTree>
    <p:extLst>
      <p:ext uri="{BB962C8B-B14F-4D97-AF65-F5344CB8AC3E}">
        <p14:creationId xmlns:p14="http://schemas.microsoft.com/office/powerpoint/2010/main" val="644943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7561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shows an extreme right-skewness(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우측 편도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영동 </a:t>
            </a:r>
            <a:r>
              <a:rPr lang="en-US" altLang="ko-KR" dirty="0"/>
              <a:t>shows upward trend</a:t>
            </a:r>
          </a:p>
          <a:p>
            <a:endParaRPr lang="en-US" dirty="0"/>
          </a:p>
          <a:p>
            <a:r>
              <a:rPr lang="ko-KR" altLang="en-US" dirty="0"/>
              <a:t>영서 </a:t>
            </a:r>
            <a:r>
              <a:rPr lang="en-US" altLang="ko-KR" dirty="0"/>
              <a:t>shows gentle downward trend</a:t>
            </a:r>
          </a:p>
          <a:p>
            <a:endParaRPr lang="en-US" dirty="0"/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visual evidence made us certain of the need for an interaction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멀티콜리너리티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Diurnal(</a:t>
            </a:r>
            <a:r>
              <a:rPr lang="ko-KR" altLang="en-US" dirty="0"/>
              <a:t>다이얼널</a:t>
            </a:r>
            <a:r>
              <a:rPr lang="en-US" altLang="ko-KR" dirty="0"/>
              <a:t>)</a:t>
            </a:r>
          </a:p>
          <a:p>
            <a:endParaRPr lang="en-US" dirty="0"/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explained 70% of the weather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Trial-and-Error</a:t>
            </a:r>
          </a:p>
          <a:p>
            <a:endParaRPr lang="en-US" dirty="0"/>
          </a:p>
          <a:p>
            <a:r>
              <a:rPr lang="en-US" dirty="0"/>
              <a:t>Whether the fire ‘occurred or not’</a:t>
            </a:r>
          </a:p>
          <a:p>
            <a:r>
              <a:rPr lang="en-US" dirty="0"/>
              <a:t>This failed to capture multiplicity risk</a:t>
            </a:r>
          </a:p>
          <a:p>
            <a:endParaRPr lang="en-US" dirty="0"/>
          </a:p>
          <a:p>
            <a:r>
              <a:rPr lang="en-US" dirty="0"/>
              <a:t>Which</a:t>
            </a:r>
            <a:r>
              <a:rPr lang="ko-KR" altLang="en-US" dirty="0"/>
              <a:t> </a:t>
            </a:r>
            <a:r>
              <a:rPr lang="en-US" altLang="ko-KR" dirty="0"/>
              <a:t>targets the actual counts of occurrences of fire.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indices were highly significant</a:t>
            </a:r>
          </a:p>
          <a:p>
            <a:endParaRPr lang="en-US" dirty="0"/>
          </a:p>
          <a:p>
            <a:r>
              <a:rPr lang="en-US" dirty="0"/>
              <a:t>PC2</a:t>
            </a:r>
            <a:r>
              <a:rPr lang="ko-KR" altLang="en-US" dirty="0"/>
              <a:t> </a:t>
            </a:r>
            <a:r>
              <a:rPr lang="en-US" altLang="ko-KR" dirty="0"/>
              <a:t>shows</a:t>
            </a:r>
            <a:r>
              <a:rPr lang="ko-KR" altLang="en-US" dirty="0"/>
              <a:t> </a:t>
            </a:r>
            <a:r>
              <a:rPr lang="en-US" altLang="ko-KR" dirty="0"/>
              <a:t>substantial</a:t>
            </a:r>
            <a:r>
              <a:rPr lang="ko-KR" altLang="en-US" dirty="0"/>
              <a:t> </a:t>
            </a:r>
            <a:r>
              <a:rPr lang="en-US" altLang="ko-KR" dirty="0"/>
              <a:t>impact</a:t>
            </a:r>
          </a:p>
          <a:p>
            <a:r>
              <a:rPr lang="en-US" dirty="0"/>
              <a:t>If the index rises by about 3 SD -&gt; fire frequency increases by 8</a:t>
            </a:r>
            <a:r>
              <a:rPr lang="ko-KR" altLang="en-US" dirty="0"/>
              <a:t>５</a:t>
            </a:r>
            <a:r>
              <a:rPr lang="en-US" dirty="0"/>
              <a:t>%</a:t>
            </a:r>
          </a:p>
          <a:p>
            <a:endParaRPr lang="en-US" dirty="0"/>
          </a:p>
          <a:p>
            <a:r>
              <a:rPr lang="en-US" dirty="0"/>
              <a:t>Independent seasonal effect for spring also shows </a:t>
            </a:r>
            <a:r>
              <a:rPr lang="ko-KR" altLang="en-US" dirty="0" err="1"/>
              <a:t>ａｂｏｕｔ</a:t>
            </a:r>
            <a:r>
              <a:rPr lang="ko-KR" altLang="en-US" dirty="0"/>
              <a:t>　</a:t>
            </a:r>
            <a:r>
              <a:rPr lang="en-US" dirty="0"/>
              <a:t>10% of fire frequency increases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Partial regression plot</a:t>
            </a:r>
          </a:p>
          <a:p>
            <a:endParaRPr lang="en-US" dirty="0"/>
          </a:p>
          <a:p>
            <a:r>
              <a:rPr lang="en-US" dirty="0"/>
              <a:t>Negative slope</a:t>
            </a:r>
          </a:p>
          <a:p>
            <a:r>
              <a:rPr lang="en-US" dirty="0"/>
              <a:t>Positive slope</a:t>
            </a:r>
          </a:p>
          <a:p>
            <a:endParaRPr lang="en-US" dirty="0"/>
          </a:p>
          <a:p>
            <a:r>
              <a:rPr lang="ko-KR" altLang="en-US" dirty="0"/>
              <a:t>영서 </a:t>
            </a:r>
            <a:r>
              <a:rPr lang="en-US" altLang="ko-KR" dirty="0"/>
              <a:t>-&gt; intriguing(</a:t>
            </a:r>
            <a:r>
              <a:rPr lang="ko-KR" altLang="en-US" dirty="0"/>
              <a:t>흥미로운</a:t>
            </a:r>
            <a:r>
              <a:rPr lang="en-US" altLang="ko-KR" dirty="0"/>
              <a:t>) -&gt; defied</a:t>
            </a:r>
            <a:r>
              <a:rPr lang="ko-KR" altLang="en-US" dirty="0"/>
              <a:t> </a:t>
            </a:r>
            <a:r>
              <a:rPr lang="en-US" altLang="ko-KR" dirty="0"/>
              <a:t>standard</a:t>
            </a:r>
            <a:r>
              <a:rPr lang="ko-KR" altLang="en-US" dirty="0"/>
              <a:t> </a:t>
            </a:r>
            <a:r>
              <a:rPr lang="en-US" altLang="ko-KR" dirty="0"/>
              <a:t>intuition</a:t>
            </a:r>
          </a:p>
          <a:p>
            <a:endParaRPr lang="en-US" dirty="0"/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was the exact moment we proved with data that topography fundamentally alters the physical properties of the wind.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didn’t stop here</a:t>
            </a:r>
          </a:p>
          <a:p>
            <a:endParaRPr lang="en-US" dirty="0"/>
          </a:p>
          <a:p>
            <a:r>
              <a:rPr lang="en-US" dirty="0"/>
              <a:t>Interaction between wind speed &amp; topography also exists</a:t>
            </a:r>
          </a:p>
          <a:p>
            <a:endParaRPr lang="en-US" dirty="0"/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true,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ｔｈａｔ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　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ｓｈｏｗｓ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terrifying nature of </a:t>
            </a:r>
            <a:r>
              <a:rPr lang="en-US" altLang="ko-K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Yangganjipung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1 SD increases in this index -&gt; daily no. of fire occurrence increases by 23%</a:t>
            </a:r>
          </a:p>
          <a:p>
            <a:endParaRPr lang="en-US" dirty="0"/>
          </a:p>
          <a:p>
            <a:r>
              <a:rPr lang="en-US" dirty="0"/>
              <a:t>Spring acts as an independent risk factor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impact of wind speed on financial damage significantly depending on the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propose a dynamic resource allocation matrix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Essentially, a joint risk index that guides the dynamic cross-deployment of regional fire forces.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true significance of this research lies in quantitatively proving how topography amplifies the scale of disasters in complex multivariate weather conditions.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-1143000"/>
            <a:ext cx="3017520" cy="3017520"/>
          </a:xfrm>
          <a:prstGeom prst="ellipse">
            <a:avLst/>
          </a:prstGeom>
          <a:solidFill>
            <a:srgbClr val="2450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543800" y="3703320"/>
            <a:ext cx="2468880" cy="2468880"/>
          </a:xfrm>
          <a:prstGeom prst="ellipse">
            <a:avLst/>
          </a:prstGeom>
          <a:solidFill>
            <a:srgbClr val="1C47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6949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Weather Conditions on</a:t>
            </a:r>
            <a:endParaRPr lang="en-US" sz="3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Occurrence and Damage</a:t>
            </a:r>
            <a:endParaRPr lang="en-US" sz="3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Gangwon Province</a:t>
            </a:r>
            <a:endParaRPr lang="en-US" sz="33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7" y="2788920"/>
            <a:ext cx="71009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E9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Frequency–Severity Modeling via PCA-based Poisson GLM and Interaction MLR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IMEN 415   |   Multivariate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40690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E0A93B"/>
                </a:solidFill>
              </a:rPr>
              <a:t>TEAM 4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류근호  ·  이용준  ·  이준혁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FC3B6"/>
                </a:solidFill>
              </a:rPr>
              <a:t>Korea University, Dept. of Industrial &amp; Management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680960" y="3566160"/>
            <a:ext cx="2651760" cy="2651760"/>
          </a:xfrm>
          <a:prstGeom prst="ellipse">
            <a:avLst/>
          </a:prstGeom>
          <a:solidFill>
            <a:srgbClr val="F0F4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68680" y="1280160"/>
            <a:ext cx="420624" cy="420624"/>
          </a:xfrm>
          <a:prstGeom prst="ellipse">
            <a:avLst/>
          </a:prstGeom>
          <a:solidFill>
            <a:srgbClr val="1F51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5120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08760" y="1252728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3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Research Questions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68680" y="1847088"/>
            <a:ext cx="420624" cy="420624"/>
          </a:xfrm>
          <a:prstGeom prst="ellipse">
            <a:avLst/>
          </a:prstGeom>
          <a:solidFill>
            <a:srgbClr val="1F51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847088"/>
            <a:ext cx="5120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819656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3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&amp; Preprocessing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68680" y="2414016"/>
            <a:ext cx="420624" cy="420624"/>
          </a:xfrm>
          <a:prstGeom prst="ellipse">
            <a:avLst/>
          </a:prstGeom>
          <a:solidFill>
            <a:srgbClr val="1F51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2414016"/>
            <a:ext cx="5120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386584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3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68680" y="2980944"/>
            <a:ext cx="420624" cy="420624"/>
          </a:xfrm>
          <a:prstGeom prst="ellipse">
            <a:avLst/>
          </a:prstGeom>
          <a:solidFill>
            <a:srgbClr val="1F51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980944"/>
            <a:ext cx="5120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2953512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3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1 — PCA + Poisson GLM (Frequency)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68680" y="3547872"/>
            <a:ext cx="420624" cy="420624"/>
          </a:xfrm>
          <a:prstGeom prst="ellipse">
            <a:avLst/>
          </a:prstGeom>
          <a:solidFill>
            <a:srgbClr val="1F51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3547872"/>
            <a:ext cx="5120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352044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3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2 — MLR + Interaction (Severity)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68680" y="4114800"/>
            <a:ext cx="420624" cy="420624"/>
          </a:xfrm>
          <a:prstGeom prst="ellipse">
            <a:avLst/>
          </a:prstGeom>
          <a:solidFill>
            <a:srgbClr val="1F51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5120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4087368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3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Implications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52796F"/>
                </a:solidFill>
                <a:latin typeface="Arial"/>
              </a:rPr>
              <a:t>01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3383280"/>
            <a:ext cx="320040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352044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7083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261"/>
                </a:solidFill>
                <a:latin typeface="Arial"/>
              </a:rPr>
              <a:t>Yangganjipung, Motivation &amp; Research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86200" cy="3611880"/>
          </a:xfrm>
          <a:prstGeom prst="roundRect">
            <a:avLst>
              <a:gd name="adj" fmla="val 2278"/>
            </a:avLst>
          </a:prstGeom>
          <a:solidFill>
            <a:srgbClr val="EEF3EF"/>
          </a:solidFill>
          <a:ln/>
          <a:effectLst>
            <a:outerShdw blurRad="88900" dist="38100" dir="5400000" algn="bl" rotWithShape="0">
              <a:srgbClr val="9AA8A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5820" y="2545021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Yangganjipung (Foehn Effect)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887922"/>
            <a:ext cx="3291840" cy="18006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33029"/>
                </a:solidFill>
              </a:rPr>
              <a:t>Hot, dry wind crossing the Taebaek Mountains into the Yeongdong coast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B72"/>
                </a:solidFill>
              </a:rPr>
              <a:t>2019 Goseong fire: ~2,000 ha burned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B72"/>
                </a:solidFill>
              </a:rPr>
              <a:t>2022 Uljin–Samcheok fire: ~16,302 ha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1F5138"/>
                </a:solidFill>
              </a:rPr>
              <a:t>→ Does wind affect fire damage differently across the mountain divide?</a:t>
            </a:r>
            <a:endParaRPr lang="en-US" sz="1300" dirty="0"/>
          </a:p>
        </p:txBody>
      </p:sp>
      <p:pic>
        <p:nvPicPr>
          <p:cNvPr id="7" name="Picture 6" descr="yanggan_foeh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594360"/>
            <a:ext cx="4343400" cy="2377440"/>
          </a:xfrm>
          <a:prstGeom prst="rect">
            <a:avLst/>
          </a:prstGeom>
        </p:spPr>
      </p:pic>
      <p:pic>
        <p:nvPicPr>
          <p:cNvPr id="8" name="Picture 7" descr="gangwon_map_si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063240"/>
            <a:ext cx="2103120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3063240"/>
            <a:ext cx="2103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B4332"/>
                </a:solidFill>
                <a:latin typeface="Arial"/>
              </a:rPr>
              <a:t>Research Motivation</a:t>
            </a:r>
          </a:p>
          <a:p>
            <a:endParaRPr sz="1100" b="1" i="0">
              <a:solidFill>
                <a:srgbClr val="1B4332"/>
              </a:solidFill>
              <a:latin typeface="Arial"/>
            </a:endParaRPr>
          </a:p>
          <a:p>
            <a:r>
              <a:rPr sz="1000" b="0" i="0">
                <a:solidFill>
                  <a:srgbClr val="1A1A1A"/>
                </a:solidFill>
                <a:latin typeface="Arial"/>
              </a:rPr>
              <a:t>Motivated by firsthand accounts of</a:t>
            </a:r>
          </a:p>
          <a:p>
            <a:r>
              <a:rPr sz="1000" b="0" i="0">
                <a:solidFill>
                  <a:srgbClr val="1A1A1A"/>
                </a:solidFill>
                <a:latin typeface="Arial"/>
              </a:rPr>
              <a:t>devastating wildfires witnessed</a:t>
            </a:r>
          </a:p>
          <a:p>
            <a:r>
              <a:rPr sz="1000" b="0" i="0">
                <a:solidFill>
                  <a:srgbClr val="1A1A1A"/>
                </a:solidFill>
                <a:latin typeface="Arial"/>
              </a:rPr>
              <a:t>during military service in Gangwon</a:t>
            </a:r>
          </a:p>
          <a:p>
            <a:r>
              <a:rPr sz="1000" b="0" i="0">
                <a:solidFill>
                  <a:srgbClr val="1A1A1A"/>
                </a:solidFill>
                <a:latin typeface="Arial"/>
              </a:rPr>
              <a:t>Province — inspiring this study.</a:t>
            </a:r>
          </a:p>
        </p:txBody>
      </p:sp>
      <p:pic>
        <p:nvPicPr>
          <p:cNvPr id="4" name="Image 0" descr="/tmp/asset/ic_fire.png">
            <a:extLst>
              <a:ext uri="{FF2B5EF4-FFF2-40B4-BE49-F238E27FC236}">
                <a16:creationId xmlns:a16="http://schemas.microsoft.com/office/drawing/2014/main" id="{B9AAF488-5215-DE99-4AB4-82E8D3469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1244464"/>
            <a:ext cx="292608" cy="292608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42FD61BF-3022-E89D-0C62-2D59A9D8DEBB}"/>
              </a:ext>
            </a:extLst>
          </p:cNvPr>
          <p:cNvSpPr/>
          <p:nvPr/>
        </p:nvSpPr>
        <p:spPr>
          <a:xfrm>
            <a:off x="1216152" y="122617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2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Motivation</a:t>
            </a:r>
            <a:endParaRPr lang="en-US" sz="145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FB5048C2-6DFC-7A63-DC20-BFF2F17DF668}"/>
              </a:ext>
            </a:extLst>
          </p:cNvPr>
          <p:cNvSpPr/>
          <p:nvPr/>
        </p:nvSpPr>
        <p:spPr>
          <a:xfrm>
            <a:off x="868680" y="1637656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member served in the military in Gangwon and witnessed repeated wildfires and their heavy damage firsthand — this experience motivated the study.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4332"/>
                </a:solidFill>
                <a:latin typeface="Arial"/>
              </a:rPr>
              <a:t>Research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3840480" cy="4114800"/>
          </a:xfrm>
          <a:prstGeom prst="round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7290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B4332"/>
                </a:solidFill>
                <a:latin typeface="Arial"/>
              </a:rPr>
              <a:t>Q1  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57531"/>
            <a:ext cx="389952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 dirty="0">
                <a:solidFill>
                  <a:srgbClr val="1A1A1A"/>
                </a:solidFill>
                <a:latin typeface="Arial"/>
              </a:rPr>
              <a:t>Do </a:t>
            </a:r>
            <a:r>
              <a:rPr lang="en-US" sz="1600" b="1" i="0" dirty="0">
                <a:solidFill>
                  <a:srgbClr val="1A1A1A"/>
                </a:solidFill>
                <a:latin typeface="Arial"/>
              </a:rPr>
              <a:t>'</a:t>
            </a:r>
            <a:r>
              <a:rPr sz="1600" b="1" i="0" dirty="0">
                <a:solidFill>
                  <a:srgbClr val="1A1A1A"/>
                </a:solidFill>
                <a:latin typeface="Arial"/>
              </a:rPr>
              <a:t>composite weather indices (PCA)</a:t>
            </a:r>
            <a:r>
              <a:rPr lang="en-US" sz="1600" b="1" dirty="0">
                <a:solidFill>
                  <a:srgbClr val="1A1A1A"/>
                </a:solidFill>
                <a:latin typeface="Arial"/>
              </a:rPr>
              <a:t>'</a:t>
            </a:r>
            <a:endParaRPr sz="1600" b="1" i="0" dirty="0">
              <a:solidFill>
                <a:srgbClr val="1A1A1A"/>
              </a:solidFill>
              <a:latin typeface="Arial"/>
            </a:endParaRPr>
          </a:p>
          <a:p>
            <a:r>
              <a:rPr sz="1600" b="1" i="0" dirty="0">
                <a:solidFill>
                  <a:srgbClr val="1A1A1A"/>
                </a:solidFill>
                <a:latin typeface="Arial"/>
              </a:rPr>
              <a:t>and </a:t>
            </a:r>
            <a:r>
              <a:rPr lang="en-US" sz="1600" b="1" i="0" dirty="0">
                <a:solidFill>
                  <a:srgbClr val="1A1A1A"/>
                </a:solidFill>
                <a:latin typeface="Arial"/>
              </a:rPr>
              <a:t>'</a:t>
            </a:r>
            <a:r>
              <a:rPr sz="1600" b="1" i="0" dirty="0">
                <a:solidFill>
                  <a:srgbClr val="1A1A1A"/>
                </a:solidFill>
                <a:latin typeface="Arial"/>
              </a:rPr>
              <a:t>season</a:t>
            </a:r>
            <a:r>
              <a:rPr lang="en-US" sz="1600" b="1" i="0" dirty="0">
                <a:solidFill>
                  <a:srgbClr val="1A1A1A"/>
                </a:solidFill>
                <a:latin typeface="Arial"/>
              </a:rPr>
              <a:t>'</a:t>
            </a:r>
            <a:r>
              <a:rPr sz="1600" b="1" i="0" dirty="0">
                <a:solidFill>
                  <a:srgbClr val="1A1A1A"/>
                </a:solidFill>
                <a:latin typeface="Arial"/>
              </a:rPr>
              <a:t> significantly predict</a:t>
            </a:r>
          </a:p>
          <a:p>
            <a:r>
              <a:rPr sz="1600" b="1" i="0" dirty="0">
                <a:solidFill>
                  <a:srgbClr val="1A1A1A"/>
                </a:solidFill>
                <a:latin typeface="Arial"/>
              </a:rPr>
              <a:t>daily fire counts?</a:t>
            </a:r>
          </a:p>
          <a:p>
            <a:endParaRPr sz="1200" b="1" i="0" dirty="0">
              <a:solidFill>
                <a:srgbClr val="1A1A1A"/>
              </a:solidFill>
              <a:latin typeface="Arial"/>
            </a:endParaRPr>
          </a:p>
          <a:p>
            <a:r>
              <a:rPr sz="1100" b="1" i="0" dirty="0">
                <a:solidFill>
                  <a:srgbClr val="2D6A4F"/>
                </a:solidFill>
                <a:latin typeface="Arial"/>
              </a:rPr>
              <a:t>→  Hypothesis 1</a:t>
            </a:r>
          </a:p>
          <a:p>
            <a:r>
              <a:rPr sz="1100" b="0" i="0" dirty="0">
                <a:solidFill>
                  <a:srgbClr val="2D6A4F"/>
                </a:solidFill>
                <a:latin typeface="Arial"/>
              </a:rPr>
              <a:t>    PCA + Poisson GLM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777240"/>
            <a:ext cx="3840480" cy="411480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83480" y="137290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76F51"/>
                </a:solidFill>
                <a:latin typeface="Arial"/>
              </a:rPr>
              <a:t>Q2  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5260" y="2157531"/>
            <a:ext cx="351972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 dirty="0">
                <a:solidFill>
                  <a:srgbClr val="1A1A1A"/>
                </a:solidFill>
                <a:latin typeface="Arial"/>
              </a:rPr>
              <a:t>Does the effect of </a:t>
            </a:r>
            <a:r>
              <a:rPr lang="en-US" sz="1600" b="1" i="0" dirty="0">
                <a:solidFill>
                  <a:srgbClr val="1A1A1A"/>
                </a:solidFill>
                <a:latin typeface="Arial"/>
              </a:rPr>
              <a:t>'</a:t>
            </a:r>
            <a:r>
              <a:rPr sz="1600" b="1" i="0" dirty="0">
                <a:solidFill>
                  <a:srgbClr val="1A1A1A"/>
                </a:solidFill>
                <a:latin typeface="Arial"/>
              </a:rPr>
              <a:t>wind speed</a:t>
            </a:r>
            <a:r>
              <a:rPr lang="en-US" sz="1600" b="1" i="0" dirty="0">
                <a:solidFill>
                  <a:srgbClr val="1A1A1A"/>
                </a:solidFill>
                <a:latin typeface="Arial"/>
              </a:rPr>
              <a:t>'</a:t>
            </a:r>
            <a:r>
              <a:rPr sz="1600" b="1" i="0" dirty="0">
                <a:solidFill>
                  <a:srgbClr val="1A1A1A"/>
                </a:solidFill>
                <a:latin typeface="Arial"/>
              </a:rPr>
              <a:t> on</a:t>
            </a:r>
          </a:p>
          <a:p>
            <a:r>
              <a:rPr sz="1600" b="1" i="0" dirty="0">
                <a:solidFill>
                  <a:srgbClr val="1A1A1A"/>
                </a:solidFill>
                <a:latin typeface="Arial"/>
              </a:rPr>
              <a:t>fire damage differ between</a:t>
            </a:r>
          </a:p>
          <a:p>
            <a:r>
              <a:rPr lang="en-US" sz="1600" b="1" i="0" dirty="0">
                <a:solidFill>
                  <a:srgbClr val="1A1A1A"/>
                </a:solidFill>
                <a:latin typeface="Arial"/>
              </a:rPr>
              <a:t>'</a:t>
            </a:r>
            <a:r>
              <a:rPr sz="1600" b="1" i="0" dirty="0" err="1">
                <a:solidFill>
                  <a:srgbClr val="1A1A1A"/>
                </a:solidFill>
                <a:latin typeface="Arial"/>
              </a:rPr>
              <a:t>Yeongdong</a:t>
            </a:r>
            <a:r>
              <a:rPr sz="1600" b="1" i="0" dirty="0">
                <a:solidFill>
                  <a:srgbClr val="1A1A1A"/>
                </a:solidFill>
                <a:latin typeface="Arial"/>
              </a:rPr>
              <a:t> and </a:t>
            </a:r>
            <a:r>
              <a:rPr sz="1600" b="1" i="0" dirty="0" err="1">
                <a:solidFill>
                  <a:srgbClr val="1A1A1A"/>
                </a:solidFill>
                <a:latin typeface="Arial"/>
              </a:rPr>
              <a:t>Yeongseo</a:t>
            </a:r>
            <a:r>
              <a:rPr lang="en-US" sz="1600" b="1" i="0" dirty="0">
                <a:solidFill>
                  <a:srgbClr val="1A1A1A"/>
                </a:solidFill>
                <a:latin typeface="Arial"/>
              </a:rPr>
              <a:t>'</a:t>
            </a:r>
            <a:r>
              <a:rPr sz="1600" b="1" i="0" dirty="0">
                <a:solidFill>
                  <a:srgbClr val="1A1A1A"/>
                </a:solidFill>
                <a:latin typeface="Arial"/>
              </a:rPr>
              <a:t>?</a:t>
            </a:r>
          </a:p>
          <a:p>
            <a:endParaRPr sz="1200" b="0" i="0" dirty="0">
              <a:solidFill>
                <a:srgbClr val="1A1A1A"/>
              </a:solidFill>
              <a:latin typeface="Arial"/>
            </a:endParaRPr>
          </a:p>
          <a:p>
            <a:r>
              <a:rPr sz="1100" b="1" i="0" dirty="0">
                <a:solidFill>
                  <a:srgbClr val="E76F51"/>
                </a:solidFill>
                <a:latin typeface="Arial"/>
              </a:rPr>
              <a:t>→  Hypothesis 2</a:t>
            </a:r>
          </a:p>
          <a:p>
            <a:r>
              <a:rPr sz="1100" b="0" i="0" dirty="0">
                <a:solidFill>
                  <a:srgbClr val="E76F51"/>
                </a:solidFill>
                <a:latin typeface="Arial"/>
              </a:rPr>
              <a:t>    MLR + Interaction Term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52796F"/>
                </a:solidFill>
                <a:latin typeface="Arial"/>
              </a:rPr>
              <a:t>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3383280"/>
            <a:ext cx="320040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352044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Data Overview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7083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F4A261"/>
                </a:solidFill>
                <a:latin typeface="Arial"/>
              </a:rPr>
              <a:t>Fire &amp; Weather Spatiotemporal Panel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 |  Step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52796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Fire Data: Integration &amp; Aggregation by Date × District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10 annual CSV files (2015–2024) unified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Column names standardized across years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Filtered to Gangwon Province only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Aggregated by Date × District: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→ fire count, casualties, property damage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FF8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10 files (varying schemas)  →  Column standardization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→  Gangwon filter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→  Date × District aggregation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7863840" cy="21945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A2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 Code — Fire Data Aggregation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fire_list &lt;- lapply(fire_files, function(file) {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 &lt;- read.csv(file, fileEncoding = "CP949", stringsAsFactors = FALSE, check.names = FALSE)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names(df) &lt;- str_replace_all(names(df), "화재발생년월일", "일시")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names(df) &lt;- str_replace_all(names(df), "시·군·구|시_군_구", "시군구")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df[, c("일시", "시도", "시군구", "인명피해소계", "사망", "부상", "재산피해소계")]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fire_raw &lt;- bind_rows(fire_list)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fire_agg &lt;- fire_raw %&gt;%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filter(str_detect(시도, "강원")) %&gt;%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mutate(Date = as.Date(parse_date_time(일시, orders = c("Ymd HM","Ymd HMS","Ymd"))),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재산피해소계 = coalesce(to_num(재산피해소계), 0)) %&gt;%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group_by(Date, 시군구) %&gt;%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summarise(화재건수 = n(), 재산피해 = sum(재산피해소계), .groups = "drop")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 |  Step 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52796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Weather Interpolation + Spatiotemporal Panel Construction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6A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Weather Missing Data Treatment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1. Linear interpolation (na.approx)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2. Forward fill (na.locf)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3. Backward fill (na.locf, fromLast)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No-rain days: 강수량 = 0 (not NA)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Spatiotemporal Panel Construction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Full grid: Date × 18 districts (expand.grid)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District → Station mapping (7 ASOS)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Left join: weather + fire on grid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Non-fire days preserved (count = 0)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743199"/>
            <a:ext cx="7863840" cy="2325189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A2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 Code — Weather Interpolation + Panel Join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7498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Weather: station-level missing value interpolation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 &lt;- weather_raw %&gt;%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mutate(Date = as.Date(Date), 강수량 = coalesce(강수량, 0)) %&gt;%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group_by(지점명) %&gt;% arrange(Date) %&gt;%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mutate(across(c(평균기온, 최고기온, 최저기온, 평균습도, 최대풍속),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 na.locf(na.locf(na.approx(.x, na.rm=FALSE), na.rm=FALSE),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fromLast=TRUE, na.rm=FALSE))) %&gt;% ungroup()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grid: every (Date × District) combination, including non-fire days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all_dates &lt;- seq(as.Date("2015-01-01"), as.Date("2024-12-31"), by = "day")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full_grid &lt;- expand.grid(Date = all_dates, 시군구 = mapping$시군구)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gangwon_panel &lt;- full_grid %&gt;%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left_join(mapping, by="시군구") %&gt;%       # district → station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left_join(weather, by=c("Date","지점명")) %&gt;%  # weather data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left_join(fire_agg, by=c("Date","시군구"))     # fire data (NA = no fire)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 |  Step 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52796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Derived Variables for Hypothesis Testing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640080" y="1188720"/>
          <a:ext cx="7863840" cy="1737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건조지수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평균기온 − 평균습도/10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Dryness proxy for PCA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기온교차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최고기온 − 최저기온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Diurnal range for PCA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계절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3–5월=봄, 6–8=여름, 9–11=가을, 12–2=겨울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H1: Spring dummy (IsSpring)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강릉·동해·속초·삼척·고성·양양 = Yeongdong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Others = Yeongseo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H2: Interaction with wind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017519"/>
            <a:ext cx="7863840" cy="1959429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A2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 Code — Derived Variables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3409406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yeongdong &lt;- c("강릉시", "동해시", "속초시", "삼척시", "고성군", "양양군")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gangwon_panel &lt;- gangwon_panel %&gt;% mutate(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화재건수     = coalesce(화재건수, 0),           # non-fire days = 0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재산피해     = coalesce(재산피해, 0),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화재발생여부 = ifelse(화재건수 &gt; 0, 1, 0),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건조지수     = 평균기온 - (평균습도 / 10),       # dryness index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기온교차     = 최고기온 - 최저기온,               # diurnal range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월 = month(Date),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계절 = case_when(월 %in% 3:5 ~ "봄", 월 %in% 6:8 ~ "여름",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월 %in% 9:11 ~ "가을", TRUE ~ "겨울"),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ifelse(시군구 %in% yeongdong, "Yeongdong", "Yeongseo")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Preprocessing Result  |  Final Panel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 of the full preprocessing pipeline — ready for EDA and 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2926080" cy="804672"/>
          </a:xfrm>
          <a:prstGeom prst="round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65,754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35607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Total Observations
(Date × District)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926080" cy="804672"/>
          </a:xfrm>
          <a:prstGeom prst="round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039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D6A4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Variables
(Weather + Fire + Derived)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2926080" cy="804672"/>
          </a:xfrm>
          <a:prstGeom prst="round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9992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14,548 / 51,206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558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Fire Days / No-Fire Days
(22.1% / 77.9%)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2926080" cy="804672"/>
          </a:xfrm>
          <a:prstGeom prst="round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9593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4A2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2015–2024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159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Date Range
(10 Years, 18 Districts)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566160" y="1005840"/>
          <a:ext cx="5522976" cy="2464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District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Region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
Temp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
Humid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Max
Wind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Dry
Idx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Fire
Count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Damage
(KRW)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Season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2015-01-01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속초시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Yeongdong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-4.6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31.6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-7.76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20,158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겨울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2015-01-02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속초시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Yeongdong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-2.9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30.4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11.5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-5.94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6,062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겨울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2015-01-03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속초시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Yeongdong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1.1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32.5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7.2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-2.15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겨울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2015-03-05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강릉시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Yeongdong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28.4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0.49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15,200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2019-04-04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고성군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Yeongdong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14.2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20.1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18.3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12.19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193,674,022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봄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2022-03-04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삼척시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Yeongdong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8.1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25.3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15.2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5.58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Arial"/>
                        </a:rPr>
                        <a:t>98,532,000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dirty="0">
                          <a:solidFill>
                            <a:srgbClr val="1A1A1A"/>
                          </a:solidFill>
                          <a:latin typeface="Arial"/>
                        </a:rPr>
                        <a:t>봄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56616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1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🔴 Large fire events  |  ⬜ No-fire days (화재건수 = 0 preserved in panel)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64024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1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derived variables:  건조지수 = 평균기온 − 평균습도/10  |  기온교차 = 최고기온 − 최저기온  |  Region: Taebaek divide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52796F"/>
                </a:solidFill>
                <a:latin typeface="Arial"/>
              </a:rPr>
              <a:t>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3383280"/>
            <a:ext cx="320040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352044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7083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261"/>
                </a:solidFill>
                <a:latin typeface="Arial"/>
              </a:rPr>
              <a:t>Response Variables &amp; Regional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EDA  |  Response Variable Distributions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/home/claude/fig1_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841248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3974592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7240" y="402031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Monthly Fire Counts (Left)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Fires concentrate in winter–spring (Jan, Mar–May). This confirms the need for a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seasonal variable (IsSpring)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in the model.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754880" y="3974592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8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92040" y="402031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Property Damage Distribution (Right)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Extreme right-skewness: most fires are small, but rare large fires dominate the tail. This justifies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log-transformation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of damage in H2.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3700272"/>
            <a:ext cx="2103120" cy="24688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7094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→ Key EDA for H1 (Frequency)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700272"/>
            <a:ext cx="2103120" cy="24688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37094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→ Key EDA for H2 (Severity)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EDA  |  Yeongdong vs Yeongseo: Wind–Damage Relationship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/home/claude/fig2_region_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841248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384048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38862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Wind Speed Distribution (Left):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Wind speed itself does not differ drastically between Yeongdong and Yeongseo.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Wind–Damage Relationship (Right):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Despite similar wind speeds, the regression slopes diverge — Yeongdong (red) trends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upward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while Yeongseo (blue) trends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B599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downward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This motivates the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Wind × Region interaction term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in H2.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52796F"/>
                </a:solidFill>
                <a:latin typeface="Arial"/>
              </a:rPr>
              <a:t>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3383280"/>
            <a:ext cx="320040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352044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Hypothesis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7083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261"/>
                </a:solidFill>
                <a:latin typeface="Arial"/>
              </a:rPr>
              <a:t>PCA + Poisson GLM  (Fire Frequency)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40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H1 Background  |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Multicollinearity Among Weather Variables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2796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Pearson correlation matrix of 5 input variables — justifying the need for PCA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pca_heat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46634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109728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FF0E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40680" y="1234440"/>
            <a:ext cx="228600" cy="2286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60720" y="11887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Strong Positive Correlation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40680" y="15087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Temp ↔ Dry Index: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 = 0.99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(near-identical info)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Temp ↔ Humidity: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 = 0.33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303520" y="242316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EEF4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40680" y="2560320"/>
            <a:ext cx="228600" cy="228600"/>
          </a:xfrm>
          <a:prstGeom prst="ellipse">
            <a:avLst/>
          </a:prstGeom>
          <a:solidFill>
            <a:srgbClr val="2166A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60720" y="2514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166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Negative Correlation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40680" y="28346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Diurnal Range ↔ Humidity: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166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 = −0.39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Max Wind ↔ Humidity: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166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 = −0.29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303520" y="374904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40680" y="3822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6A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Why PCA?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72100" y="4116106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Correlated inputs 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unstable coefficient estimates due to multicollinearity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Compress 5 variables into 2 independent indices via PCA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H1  |  PCA: Dimensionality Reduction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2796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 weather variables → 2 independent indices  (69.4% variance explained)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pca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02920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097280"/>
            <a:ext cx="3200400" cy="1097280"/>
          </a:xfrm>
          <a:prstGeom prst="roundRect">
            <a:avLst>
              <a:gd name="adj" fmla="val 8333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PC1: Cold-Dry Index  (43.6%)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Temp (+0.646), Dry Idx (+0.608), Humidity (+0.373)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Sign flipped → higher = colder &amp; drier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577840" y="233172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FFF8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0" y="24231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PC2: Gale-Diurnal Index  (25.8%)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0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Humidity (−0.599), Diurnal Range (+0.543)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Dry Idx (+0.382), Max Wind (+0.363)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Captures volatile weather with local gusts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296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A2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 Code  (from report §2.3.2)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2960" y="40690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pca_result &lt;- prcomp(panel_df[, pca_cols], center = TRUE, scale. = TRUE)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summary(pca_result)                  # variance explained per component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round(pca_result$rotation[, 1:2], 3) # PC1, PC2 loadings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Sign flip: PC1_Index ↑  =  colder &amp; drier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panel_df$PC1_Index &lt;- -pca_result$x[, 1]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panel_df$PC2_Index &lt;-  pca_result$x[, 2]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H1  |  Model Selection: Logistic → Poisson GLM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2796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Why we switched from binary classification to count modeling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43400" y="1188720"/>
            <a:ext cx="0" cy="3566160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① Initial Attempt: Logistic Regression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6733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Modeled daily fire occurrence (0 / 1)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Tested weather × spring interaction effect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FF0E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✗  Reason 1: Interaction Not Significant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PC1 × IsSpring interaction p-value = 0.673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Spring risk does not amplify bad weather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593592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FF0E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✗  Reason 2: Cannot Capture Multiplicity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395935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 fire/day  =  10 fires/day  →  both coded '1'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Loses critical information about fire intensity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023360" cy="2423160"/>
          </a:xfrm>
          <a:prstGeom prst="roundRect">
            <a:avLst>
              <a:gd name="adj" fmla="val 3774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1170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6A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② Final Model: Poisson GLM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508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19" y="1764792"/>
            <a:ext cx="39384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ln(E[count]) = β₀ + β₁·PC1 + β₂·PC2 + β₃·IsSpring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46320" y="2121408"/>
            <a:ext cx="36576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0" y="2194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Hypothesis: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0" y="2450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H₀ :  β₁ = β₂ = β₃ = 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2715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D6A4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Hₐ :  at least one βᵢ ≠ 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e^β = rate ratio  (% change in expected daily count)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3319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 = daily fire count (0, 1, 2, …)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63440" y="3616451"/>
            <a:ext cx="4023360" cy="1419280"/>
          </a:xfrm>
          <a:prstGeom prst="roundRect">
            <a:avLst>
              <a:gd name="adj" fmla="val 6400"/>
            </a:avLst>
          </a:prstGeom>
          <a:solidFill>
            <a:srgbClr val="1E29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0" y="36621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A2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 Code  (from report §2.3.3)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00600" y="403577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Logistic — interaction p = 0.673 (not sig.)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logit_init &lt;- glm(factor(화재발생여부) ~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PC1_Index * IsSpring + PC2_Index,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family = binomial, data = panel_df)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Poisson — models daily fire COUNT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poisson_model &lt;- glm(화재건수 ~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PC1_Index + PC2_Index + IsSpring,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family = poisson(link = "log"), data = panel_df)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H1  |  Poisson GLM: Results &amp; Hypothesis Test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7863840" cy="333756"/>
          </a:xfrm>
          <a:prstGeom prst="roundRect">
            <a:avLst>
              <a:gd name="adj" fmla="val 17778"/>
            </a:avLst>
          </a:prstGeom>
          <a:solidFill>
            <a:srgbClr val="1B43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H₀ Rejected  —  All three predictors significantly increase daily fire count (all p &lt; 0.001)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/home/claude/포아송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4572000" cy="260604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345082"/>
              </p:ext>
            </p:extLst>
          </p:nvPr>
        </p:nvGraphicFramePr>
        <p:xfrm>
          <a:off x="4767897" y="1175004"/>
          <a:ext cx="4271645" cy="1444752"/>
        </p:xfrm>
        <a:graphic>
          <a:graphicData uri="http://schemas.openxmlformats.org/drawingml/2006/table">
            <a:tbl>
              <a:tblPr/>
              <a:tblGrid>
                <a:gridCol w="953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2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e^β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 (+1 unit)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PC1 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(Cold-Dry)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+12.5% fire count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2e-16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PC2 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(Gale-Diurnal)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+22.8%  ★ Largest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2e-16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IsSpring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(Spring)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+9.6% 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(indep. of weather)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1.55e-08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FF8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12080" y="2807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PC2 at Storm-Level (+3 SD)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12080" y="31089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e^(3×0.206) = e^0.618 ≈ 1.85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fire count increases ~85% vs. a normal day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029200" y="39319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212080" y="3995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D6A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Spring as Independent Risk Factor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212080" y="42793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Even with weather controlled, spring alone adds +10%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human factors (hikers, crop burning), not weather amplification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65760" y="395151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⚠  Dispersion ratio = 2.32 (overdispersion detected) → p-values may be optimistic; negative binomial comparison needed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52796F"/>
                </a:solidFill>
                <a:latin typeface="Arial"/>
              </a:rPr>
              <a:t>05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3383280"/>
            <a:ext cx="320040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352044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Hypothesis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7083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261"/>
                </a:solidFill>
                <a:latin typeface="Arial"/>
              </a:rPr>
              <a:t>MLR + Interaction  (Fire Severity)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 |  Hypothesis &amp; Preprocessing Method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Foehn-driven wind–damage interaction in Yeongdong vs Yeongseo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170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&amp;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55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LogDamage = β₀ + β₁·Wind + β₂·Region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+ β₃·(Wind×Region) + β₄·Temp + β₅·Humid + ε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374904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24048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H₀ :  β₃ (interaction) = 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Hₐ :  β₃ ≠ 0  (Foehn amplifies damage in Yeongdong)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β₃ = differential wind effect of Yeongdong over Yeongseo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37760" y="10972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8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12064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Log Transformation of Damage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149047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Right-skewed distribution (from EDA) → OLS assumptions violated
</a:t>
            </a:r>
            <a:r>
              <a:rPr lang="en-US" sz="10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LogDamage = log(재산피해 + 1)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e^β interpreted as % change in damage per 1 m/s wind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2423160"/>
            <a:ext cx="3840480" cy="1325880"/>
          </a:xfrm>
          <a:prstGeom prst="roundRect">
            <a:avLst>
              <a:gd name="adj" fmla="val 6897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120640" y="2496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Cook's Distance Outlier Removal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81635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damage events unrelated to weather
(e.g., arson, high-value facilities)
Threshold: 4/N  → </a:t>
            </a:r>
            <a:r>
              <a:rPr lang="en-US" sz="105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11,823 → 11,298 rows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stability of regression estimates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13631"/>
            <a:ext cx="8229600" cy="1188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" y="39593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Code  (from report §2.4.2  —  {r h2-prep})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3185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fire_base &lt;- gangwon_panel %&gt;%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filter(재산피해 &gt; 0, complete.cases(최대풍속, 평균기온, 평균습도)) %&gt;%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mutate(LogDamage = log(재산피해 + 1), Region = factor(Region, levels = c("Yeongseo","Yeongdong")))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mlr_pre &lt;- lm(LogDamage ~ 최대풍속 * Region + 평균기온 + 평균습도, data = fire_base)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cooksd  &lt;- cooks.distance(mlr_pre);  thr &lt;- 4 / nrow(fire_base)   # threshold: 4/n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fire_cleaned_df &lt;- fire_base[!is.na(cooksd) &amp; cooksd &lt;= thr, ]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 |  Partial Regression: Pure Wind–Damage Effect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for temperature &amp; humidity via residualization before the interaction test</a:t>
            </a:r>
            <a:endParaRPr lang="en-US" sz="1200" dirty="0"/>
          </a:p>
        </p:txBody>
      </p:sp>
      <p:pic>
        <p:nvPicPr>
          <p:cNvPr id="4" name="Image 0" descr="/home/claude/영동영서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4864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0515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8FA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172200" y="1115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FWL Theorem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72200" y="1417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 Wind and LogDamage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 Temp &amp; Humidity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residuals = pure wind effect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(temp/humidity noise removed)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35040" y="237744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EEF4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172200" y="2441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5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Yeongseo  slope = −0.090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72200" y="2724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↑  →  Damage ↓  (suppression)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3273552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FFF0E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17220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Yeongdong  slope = +0.086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72200" y="3621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↑  →  Damage ↑  (amplification)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114800"/>
            <a:ext cx="8229600" cy="940526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31520" y="4160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Code  (from report §2.4.3  —  {r partial-reg})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31520" y="4485785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add_partial &lt;- function(df) {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df$Wind_Pure   &lt;- residuals(lm(최대풍속  ~ 평균기온 + 평균습도, data = df))  # pure wind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df$Damage_Pure &lt;- residuals(lm(LogDamage ~ 평균기온 + 평균습도, data = df))  # pure damage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 }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slope_yd &lt;- coef(lm(LogDamage ~ 최대풍속 + 평균기온 + 평균습도, data=yeongdong_df))[["최대풍속"]]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slope_ys &lt;- coef(lm(LogDamage ~ 최대풍속 + 평균기온 + 평균습도, data=yeongseo_df))[["최대풍속"]]</a:t>
            </a:r>
            <a:endParaRPr lang="en-US" sz="6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332E8772-09B5-5E9F-AE3A-DA3E96DED09D}"/>
              </a:ext>
            </a:extLst>
          </p:cNvPr>
          <p:cNvSpPr/>
          <p:nvPr/>
        </p:nvSpPr>
        <p:spPr>
          <a:xfrm>
            <a:off x="914400" y="3801945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796F"/>
                </a:solidFill>
                <a:latin typeface="Arial" pitchFamily="34" charset="0"/>
                <a:cs typeface="Arial" pitchFamily="34" charset="-120"/>
              </a:rPr>
              <a:t>Topography fundamentally alters the physical properties of the wind.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 |  MLR Interaction: Results &amp; Hypothesis Test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7863840" cy="393192"/>
          </a:xfrm>
          <a:prstGeom prst="roundRect">
            <a:avLst>
              <a:gd name="adj" fmla="val 18605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79552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H₀ Rejected  —  Wind × Region interaction is statistically significant  (p &lt; 0.001)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029200" y="1261872"/>
          <a:ext cx="3749040" cy="138988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Coef.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 (Yeongseo base)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 × Yeongdong  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Yeongdong slope (net)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0" y="2779775"/>
            <a:ext cx="3749040" cy="1158675"/>
          </a:xfrm>
          <a:prstGeom prst="roundRect">
            <a:avLst>
              <a:gd name="adj" fmla="val 7273"/>
            </a:avLst>
          </a:prstGeom>
          <a:solidFill>
            <a:srgbClr val="FFF8F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5212080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 Reversal — Key Finding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212080" y="314553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Yeongseo: −0.089  →  wind suppresses damage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Yeongdong: +0.079  →  Foehn wind amplifies damage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exp(0.079) ≈ 1.082  →  +1 m/s = +8.2% damage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m/s stronger  →  damage increases ×2.2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029200" y="4059936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8FA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5166359" y="4123944"/>
            <a:ext cx="353350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Adj. R² = 0.025 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(low, but expected — purpose is interaction testing, not prediction)</a:t>
            </a:r>
            <a:endParaRPr lang="en-US" sz="950" dirty="0"/>
          </a:p>
        </p:txBody>
      </p:sp>
      <p:pic>
        <p:nvPicPr>
          <p:cNvPr id="12" name="Image 0" descr="/home/claude/interaction_plot.png">
            <a:extLst>
              <a:ext uri="{FF2B5EF4-FFF2-40B4-BE49-F238E27FC236}">
                <a16:creationId xmlns:a16="http://schemas.microsoft.com/office/drawing/2014/main" id="{276396B0-3096-8710-2B5B-9F391FEC78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9" r="-939"/>
          <a:stretch>
            <a:fillRect/>
          </a:stretch>
        </p:blipFill>
        <p:spPr>
          <a:xfrm>
            <a:off x="114233" y="1457814"/>
            <a:ext cx="4869246" cy="3086754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18F6AD3A-1546-D109-479F-2450B8B9EC6D}"/>
              </a:ext>
            </a:extLst>
          </p:cNvPr>
          <p:cNvSpPr/>
          <p:nvPr/>
        </p:nvSpPr>
        <p:spPr>
          <a:xfrm>
            <a:off x="3272496" y="4732020"/>
            <a:ext cx="2964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Terrifying nature of </a:t>
            </a:r>
            <a:r>
              <a:rPr lang="en-US" sz="1200" dirty="0" err="1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Yangganjipung</a:t>
            </a:r>
            <a:r>
              <a:rPr lang="en-US" sz="12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200" dirty="0" err="1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양간지풍</a:t>
            </a:r>
            <a:r>
              <a:rPr lang="en-US" altLang="ko-KR" sz="12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52796F"/>
                </a:solidFill>
                <a:latin typeface="Arial"/>
              </a:rPr>
              <a:t>06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3383280"/>
            <a:ext cx="320040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352044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Conclusions &amp;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7083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261"/>
                </a:solidFill>
                <a:latin typeface="Arial"/>
              </a:rPr>
              <a:t>Findings, Engineering Impact &amp; Limitations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05840"/>
            <a:ext cx="2560320" cy="2560320"/>
          </a:xfrm>
          <a:prstGeom prst="ellipse">
            <a:avLst/>
          </a:prstGeom>
          <a:solidFill>
            <a:srgbClr val="1C47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1691640"/>
          </a:xfrm>
          <a:prstGeom prst="roundRect">
            <a:avLst>
              <a:gd name="adj" fmla="val 3784"/>
            </a:avLst>
          </a:prstGeom>
          <a:solidFill>
            <a:srgbClr val="22543B"/>
          </a:solidFill>
          <a:ln/>
          <a:effectLst>
            <a:outerShdw blurRad="88900" dist="38100" dir="5400000" algn="bl" rotWithShape="0">
              <a:srgbClr val="0C271C">
                <a:alpha val="4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3"/>
          <p:cNvSpPr/>
          <p:nvPr/>
        </p:nvSpPr>
        <p:spPr>
          <a:xfrm>
            <a:off x="868680" y="136245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3B"/>
                </a:solidFill>
              </a:rPr>
              <a:t>Q1  Frequency  </a:t>
            </a:r>
            <a:r>
              <a:rPr lang="en-US" sz="1500" b="1" dirty="0">
                <a:solidFill>
                  <a:srgbClr val="FFFFFF"/>
                </a:solidFill>
              </a:rPr>
              <a:t>→  H₀ Rejected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01368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EAF1EC"/>
                </a:solidFill>
              </a:rPr>
              <a:t>Gale-Diurnal Index (PC2) is the strongest predictor (+23% per unit)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EAF1EC"/>
                </a:solidFill>
              </a:rPr>
              <a:t>Spring adds ~10% baseline risk independent of weather (human factors)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EAF1EC"/>
                </a:solidFill>
              </a:rPr>
              <a:t>Poisson GLM captures multiplicity that logistic regression cannot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8046720" cy="1691640"/>
          </a:xfrm>
          <a:prstGeom prst="roundRect">
            <a:avLst>
              <a:gd name="adj" fmla="val 3784"/>
            </a:avLst>
          </a:prstGeom>
          <a:solidFill>
            <a:srgbClr val="22543B"/>
          </a:solidFill>
          <a:ln/>
          <a:effectLst>
            <a:outerShdw blurRad="88900" dist="38100" dir="5400000" algn="bl" rotWithShape="0">
              <a:srgbClr val="0C271C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328269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A07F"/>
                </a:solidFill>
              </a:rPr>
              <a:t>Q2  Severity  </a:t>
            </a:r>
            <a:r>
              <a:rPr lang="en-US" sz="1500" b="1" dirty="0">
                <a:solidFill>
                  <a:srgbClr val="FFFFFF"/>
                </a:solidFill>
              </a:rPr>
              <a:t>→  H₀ Rejected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721608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EAF1EC"/>
                </a:solidFill>
              </a:rPr>
              <a:t>Wind × Region interaction is significant (p &lt; 0.001)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EAF1EC"/>
                </a:solidFill>
              </a:rPr>
              <a:t>Yeongseo: wind suppresses damage (−0.089); Yeongdong: amplifies (+0.079)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EAF1EC"/>
                </a:solidFill>
              </a:rPr>
              <a:t>Confirms the differential terrain effect of the Foehn wind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Conclusions  |  Engineering Implications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2796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How the findings translate into disaster management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0" cy="1143000"/>
          </a:xfrm>
          <a:prstGeom prst="roundRect">
            <a:avLst>
              <a:gd name="adj" fmla="val 9600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078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D6A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Early Warning System  (H1 — Frequency)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63040" y="1389888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Add PC2 (Gale-Diurnal Index) as a supplementary alert trigger  — stronger predictor than humidity alone (+23%)
Spring season  →  activate always-on patrol &amp; mountain entry control regardless of weather conditions 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(+10% baseline risk)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8229600" cy="1536192"/>
          </a:xfrm>
          <a:prstGeom prst="roundRect">
            <a:avLst>
              <a:gd name="adj" fmla="val 6486"/>
            </a:avLst>
          </a:prstGeom>
          <a:solidFill>
            <a:srgbClr val="FFF3E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85800" y="239572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2395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63040" y="2359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Asymmetric Resource Allocation  (H2 — Severity)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63040" y="2651759"/>
            <a:ext cx="5486400" cy="945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During high-wind alerts, do NOT distribute firefighting resources</a:t>
            </a:r>
          </a:p>
          <a:p>
            <a:pPr>
              <a:lnSpc>
                <a:spcPct val="130000"/>
              </a:lnSpc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evenly (1/n) across Gangwon
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Pre-position resources in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Yeongdong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ko-KR" altLang="ko-KR" sz="1100" b="1" dirty="0" err="1"/>
              <a:t>Gangneung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ko-KR" sz="1100" b="1" dirty="0" err="1"/>
              <a:t>Sokcho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ko-KR" sz="1100" b="1" dirty="0" err="1"/>
              <a:t>Goseong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ko-KR" sz="1100" b="1" dirty="0" err="1"/>
              <a:t>Yangyang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)
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Scale deployment size by predicted damage multiplier:  exp(β ×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Δwind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speed)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0" descr="/home/claude/gangwon_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86600" y="2267711"/>
            <a:ext cx="1645920" cy="1536191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3959352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Shape 13"/>
          <p:cNvSpPr/>
          <p:nvPr/>
        </p:nvSpPr>
        <p:spPr>
          <a:xfrm>
            <a:off x="685800" y="40690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858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463040" y="403250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Combined Frequency × Severity Strategy  (H1 + H2)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463040" y="43434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When PC2 (high gale-diurnal risk) co-occurs with strong wind in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Yeongdong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 both frequency and severity risks are elevated simultaneously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 joint risk index guides dynamic cross-deployment of regional fire forces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Conclusions  |  Limitations &amp; Future Work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2796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Acknowledging the boundaries of this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229600" cy="841248"/>
          </a:xfrm>
          <a:prstGeom prst="roundRect">
            <a:avLst>
              <a:gd name="adj" fmla="val 10870"/>
            </a:avLst>
          </a:prstGeom>
          <a:solidFill>
            <a:srgbClr val="FFF0E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115214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152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89888" y="11430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6F5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Missing Human Behavioral Factors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89888" y="14173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Spring's +10% baseline risk was attributed to hikers and crop burning, but no actual visitor count or burning incident data was included as a covariate. Future work could quantify this human component directly.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8229600" cy="841248"/>
          </a:xfrm>
          <a:prstGeom prst="roundRect">
            <a:avLst>
              <a:gd name="adj" fmla="val 10870"/>
            </a:avLst>
          </a:prstGeom>
          <a:solidFill>
            <a:srgbClr val="FFFBF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85800" y="211226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2112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89888" y="21031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A2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 Forest &amp; Terrain Variables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89888" y="23774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Property damage is also driven by conifer density, slope gradient, and distance to fire stations. 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These spatial covariates were unavailable, which limits the explanatory power of H2 (Adj. R² = 0.025).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8229600" cy="841248"/>
          </a:xfrm>
          <a:prstGeom prst="roundRect">
            <a:avLst>
              <a:gd name="adj" fmla="val 10870"/>
            </a:avLst>
          </a:prstGeom>
          <a:solidFill>
            <a:srgbClr val="F0F7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85800" y="307238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3072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89888" y="30632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2796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Poisson Overdispersion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89888" y="333756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Dispersion ratio = 2.32 — the Poisson model's variance assumption is violated, making standard errors optimistic. 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 negative binomial regression comparison is recommended as a robustness check.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8229600" cy="841248"/>
          </a:xfrm>
          <a:prstGeom prst="roundRect">
            <a:avLst>
              <a:gd name="adj" fmla="val 10870"/>
            </a:avLst>
          </a:prstGeom>
          <a:solidFill>
            <a:srgbClr val="F0F7F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85800" y="403250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" y="4032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89888" y="402336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6A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Low R² in MLR (H2)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89888" y="429768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Adj. R² = 0.025 reflects that property damage is driven by many factors beyond weather. 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model is designed to test the interaction effect, not to predict damage magnitude.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005840"/>
            <a:ext cx="2743200" cy="2743200"/>
          </a:xfrm>
          <a:prstGeom prst="ellipse">
            <a:avLst/>
          </a:prstGeom>
          <a:solidFill>
            <a:srgbClr val="2450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589520" y="3566160"/>
            <a:ext cx="2651760" cy="2651760"/>
          </a:xfrm>
          <a:prstGeom prst="ellipse">
            <a:avLst/>
          </a:prstGeom>
          <a:solidFill>
            <a:srgbClr val="1C47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300" dirty="0" err="1">
                <a:solidFill>
                  <a:srgbClr val="D7E4DB"/>
                </a:solidFill>
              </a:rPr>
              <a:t>류근호</a:t>
            </a:r>
            <a:r>
              <a:rPr lang="en-US" sz="1300" dirty="0">
                <a:solidFill>
                  <a:srgbClr val="D7E4DB"/>
                </a:solidFill>
              </a:rPr>
              <a:t>   ·   </a:t>
            </a:r>
            <a:r>
              <a:rPr lang="ko-KR" altLang="en-US" sz="1300" dirty="0">
                <a:solidFill>
                  <a:srgbClr val="D7E4DB"/>
                </a:solidFill>
              </a:rPr>
              <a:t>이용준</a:t>
            </a:r>
            <a:r>
              <a:rPr lang="en-US" sz="1300" dirty="0">
                <a:solidFill>
                  <a:srgbClr val="D7E4DB"/>
                </a:solidFill>
              </a:rPr>
              <a:t>   ·   </a:t>
            </a:r>
            <a:r>
              <a:rPr lang="ko-KR" altLang="en-US" sz="1300" dirty="0">
                <a:solidFill>
                  <a:srgbClr val="D7E4DB"/>
                </a:solidFill>
              </a:rPr>
              <a:t>이준혁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3B6"/>
                </a:solidFill>
              </a:rPr>
              <a:t>Korea University   |   IMEN 415 Multivariate Analysis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3673</Words>
  <Application>Microsoft Office PowerPoint</Application>
  <PresentationFormat>화면 슬라이드 쇼(16:9)</PresentationFormat>
  <Paragraphs>543</Paragraphs>
  <Slides>27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Weather on Gangwon Fires</dc:title>
  <dc:subject>PptxGenJS Presentation</dc:subject>
  <dc:creator>Team 4</dc:creator>
  <cp:lastModifiedBy>이용준[ 학부재학 / 심리학부 ]</cp:lastModifiedBy>
  <cp:revision>31</cp:revision>
  <dcterms:created xsi:type="dcterms:W3CDTF">2026-06-09T07:56:20Z</dcterms:created>
  <dcterms:modified xsi:type="dcterms:W3CDTF">2026-06-11T04:20:41Z</dcterms:modified>
</cp:coreProperties>
</file>